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98848"/>
            <a:ext cx="12191695" cy="914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965960"/>
            <a:ext cx="146304" cy="21488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874519"/>
            <a:ext cx="102412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E8833A"/>
                </a:solidFill>
                <a:latin typeface="Calibri"/>
              </a:rPr>
              <a:t>ПОРТАЛ ФОТ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Возможности для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руководящих должностей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80060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FD9E4"/>
                </a:solidFill>
                <a:latin typeface="Calibri"/>
              </a:rPr>
              <a:t>Начальник отдела  ·  Бригадир  ·  Начальник участка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FD9E4"/>
                </a:solidFill>
                <a:latin typeface="Calibri"/>
              </a:rPr>
              <a:t>Прораб  ·  Руководитель строительства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72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ОБЗОР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Что такое портал ФОТ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Система учёта рабочего времени и фонда оплаты труда строительной компании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Ведение табелей: дневные отметки, ночные смены, корректировки задним числом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Контроль присутствия на объектах в реальном времени по данным СКУД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Заявления сотрудников: отпуск, больничный, удалёнка, справки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Многоступенчатое согласование табелей и заявлений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Хранение документов, расчётных листков и истории выплат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440680"/>
            <a:ext cx="10817352" cy="731520"/>
          </a:xfrm>
          <a:prstGeom prst="rect">
            <a:avLst/>
          </a:prstGeom>
          <a:solidFill>
            <a:srgbClr val="F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440680"/>
            <a:ext cx="82296" cy="7315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5440680"/>
            <a:ext cx="1026871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Руководитель в портале видит и ведёт только свою команду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Портал ФОТ  ·  Возможности для руководящих должностей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72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СТРУКТУРА РОЛЕЙ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Две руководящие роли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53949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5394960" cy="6035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12264"/>
            <a:ext cx="5394960" cy="457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508760"/>
            <a:ext cx="49377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«Руководитель»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50008"/>
            <a:ext cx="4828032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50" b="1">
                <a:solidFill>
                  <a:srgbClr val="E8833A"/>
                </a:solidFill>
                <a:latin typeface="Calibri"/>
              </a:rPr>
              <a:t>▪  </a:t>
            </a:r>
            <a:r>
              <a:rPr sz="1450" b="0">
                <a:solidFill>
                  <a:srgbClr val="2B2B2B"/>
                </a:solidFill>
                <a:latin typeface="Calibri"/>
              </a:rPr>
              <a:t>Начальник отдела, бригадир, начальник участка, прораб</a:t>
            </a:r>
          </a:p>
          <a:p>
            <a:pPr algn="l">
              <a:spcAft>
                <a:spcPts val="900"/>
              </a:spcAft>
            </a:pPr>
            <a:r>
              <a:rPr sz="1450" b="1">
                <a:solidFill>
                  <a:srgbClr val="E8833A"/>
                </a:solidFill>
                <a:latin typeface="Calibri"/>
              </a:rPr>
              <a:t>▪  </a:t>
            </a:r>
            <a:r>
              <a:rPr sz="1450" b="0">
                <a:solidFill>
                  <a:srgbClr val="2B2B2B"/>
                </a:solidFill>
                <a:latin typeface="Calibri"/>
              </a:rPr>
              <a:t>Должность — лишь подпись, на права не влияет</a:t>
            </a:r>
          </a:p>
          <a:p>
            <a:pPr algn="l">
              <a:spcAft>
                <a:spcPts val="900"/>
              </a:spcAft>
            </a:pPr>
            <a:r>
              <a:rPr sz="1450" b="1">
                <a:solidFill>
                  <a:srgbClr val="E8833A"/>
                </a:solidFill>
                <a:latin typeface="Calibri"/>
              </a:rPr>
              <a:t>▪  </a:t>
            </a:r>
            <a:r>
              <a:rPr sz="1450" b="0">
                <a:solidFill>
                  <a:srgbClr val="2B2B2B"/>
                </a:solidFill>
                <a:latin typeface="Calibri"/>
              </a:rPr>
              <a:t>Должности различаются только зоной видимости</a:t>
            </a:r>
          </a:p>
          <a:p>
            <a:pPr algn="l">
              <a:spcAft>
                <a:spcPts val="900"/>
              </a:spcAft>
            </a:pPr>
            <a:r>
              <a:rPr sz="1450" b="1">
                <a:solidFill>
                  <a:srgbClr val="E8833A"/>
                </a:solidFill>
                <a:latin typeface="Calibri"/>
              </a:rPr>
              <a:t>▪  </a:t>
            </a:r>
            <a:r>
              <a:rPr sz="1450" b="0">
                <a:solidFill>
                  <a:srgbClr val="2B2B2B"/>
                </a:solidFill>
                <a:latin typeface="Calibri"/>
              </a:rPr>
              <a:t>Полный набор функций руководителя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792" y="1508760"/>
            <a:ext cx="53949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6792" y="1508760"/>
            <a:ext cx="5394960" cy="6035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6792" y="2112264"/>
            <a:ext cx="5394960" cy="457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2824" y="1508760"/>
            <a:ext cx="49377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«Руководитель (строительство)»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350008"/>
            <a:ext cx="4828032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50" b="1">
                <a:solidFill>
                  <a:srgbClr val="E8833A"/>
                </a:solidFill>
                <a:latin typeface="Calibri"/>
              </a:rPr>
              <a:t>▪  </a:t>
            </a:r>
            <a:r>
              <a:rPr sz="1450" b="0">
                <a:solidFill>
                  <a:srgbClr val="2B2B2B"/>
                </a:solidFill>
                <a:latin typeface="Calibri"/>
              </a:rPr>
              <a:t>Только руководитель строительства</a:t>
            </a:r>
          </a:p>
          <a:p>
            <a:pPr algn="l">
              <a:spcAft>
                <a:spcPts val="900"/>
              </a:spcAft>
            </a:pPr>
            <a:r>
              <a:rPr sz="1450" b="1">
                <a:solidFill>
                  <a:srgbClr val="E8833A"/>
                </a:solidFill>
                <a:latin typeface="Calibri"/>
              </a:rPr>
              <a:t>▪  </a:t>
            </a:r>
            <a:r>
              <a:rPr sz="1450" b="0">
                <a:solidFill>
                  <a:srgbClr val="2B2B2B"/>
                </a:solidFill>
                <a:latin typeface="Calibri"/>
              </a:rPr>
              <a:t>Отдельная роль с упрощённым интерфейсом</a:t>
            </a:r>
          </a:p>
          <a:p>
            <a:pPr algn="l">
              <a:spcAft>
                <a:spcPts val="900"/>
              </a:spcAft>
            </a:pPr>
            <a:r>
              <a:rPr sz="1450" b="1">
                <a:solidFill>
                  <a:srgbClr val="E8833A"/>
                </a:solidFill>
                <a:latin typeface="Calibri"/>
              </a:rPr>
              <a:t>▪  </a:t>
            </a:r>
            <a:r>
              <a:rPr sz="1450" b="0">
                <a:solidFill>
                  <a:srgbClr val="2B2B2B"/>
                </a:solidFill>
                <a:latin typeface="Calibri"/>
              </a:rPr>
              <a:t>Работа в выходные требует служебной записки</a:t>
            </a:r>
          </a:p>
          <a:p>
            <a:pPr algn="l">
              <a:spcAft>
                <a:spcPts val="900"/>
              </a:spcAft>
            </a:pPr>
            <a:r>
              <a:rPr sz="1450" b="1">
                <a:solidFill>
                  <a:srgbClr val="E8833A"/>
                </a:solidFill>
                <a:latin typeface="Calibri"/>
              </a:rPr>
              <a:t>▪  </a:t>
            </a:r>
            <a:r>
              <a:rPr sz="1450" b="0">
                <a:solidFill>
                  <a:srgbClr val="2B2B2B"/>
                </a:solidFill>
                <a:latin typeface="Calibri"/>
              </a:rPr>
              <a:t>Часть операций доступна только для просмотра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440680"/>
            <a:ext cx="10817352" cy="731520"/>
          </a:xfrm>
          <a:prstGeom prst="rect">
            <a:avLst/>
          </a:prstGeom>
          <a:solidFill>
            <a:srgbClr val="F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5440680"/>
            <a:ext cx="82296" cy="7315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5440680"/>
            <a:ext cx="1026871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Сравнение двух ролей — далее в презентации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Портал ФОТ  ·  Возможности для руководящих должностей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72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КАК УСТРОЕН ДОСТУП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Зона видимости: «только свои люди»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173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A7786"/>
                </a:solidFill>
                <a:latin typeface="Calibri"/>
              </a:rPr>
              <a:t>Портал показывает руководителю только тех сотрудников, что входят в его зону видимости. Она складывается из четырёх настроек: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31720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331720"/>
            <a:ext cx="82296" cy="178308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496312"/>
            <a:ext cx="48920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F3A5F"/>
                </a:solidFill>
                <a:latin typeface="Calibri"/>
              </a:rPr>
              <a:t>Назначенные отделы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786"/>
                </a:solidFill>
                <a:latin typeface="Calibri"/>
              </a:rPr>
              <a:t>Сотрудники этих отделов и всех вложенных подразделений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6792" y="2331720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36792" y="2331720"/>
            <a:ext cx="82296" cy="178308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496312"/>
            <a:ext cx="48920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F3A5F"/>
                </a:solidFill>
                <a:latin typeface="Calibri"/>
              </a:rPr>
              <a:t>Прямые подчинённые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786"/>
                </a:solidFill>
                <a:latin typeface="Calibri"/>
              </a:rPr>
              <a:t>Поимённое закрепление людей за руководителем, в т. ч. из разных отделов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224528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82296" cy="178308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4389120"/>
            <a:ext cx="48920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F3A5F"/>
                </a:solidFill>
                <a:latin typeface="Calibri"/>
              </a:rPr>
              <a:t>Признак «начальник участка»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786"/>
                </a:solidFill>
                <a:latin typeface="Calibri"/>
              </a:rPr>
              <a:t>Включает отдельную выгрузку табеля: начальник участка и его подчинённые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36792" y="4224528"/>
            <a:ext cx="5394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6792" y="4224528"/>
            <a:ext cx="82296" cy="178308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389120"/>
            <a:ext cx="48920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F3A5F"/>
                </a:solidFill>
                <a:latin typeface="Calibri"/>
              </a:rPr>
              <a:t>Право согласования табелей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786"/>
                </a:solidFill>
                <a:latin typeface="Calibri"/>
              </a:rPr>
              <a:t>Позволяет утверждать и возвращать табели нижестоящих руководителей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Портал ФОТ  ·  Возможности для руководящих должностей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72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ВОЗМОЖНОСТИ РУКОВОДИТЕЛЯ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Учёт рабочего времени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Табель: отметки — работа, отпуск, больничный, удалёнка, неявка, отгул, за свой счёт, учебный отпуск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Ночные смены: часы корректно считаются при переходе через полночь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Управление командой: исключение сотрудника, перевод между отделами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Согласование табеля: черновик → подан → утверждён / отклонён / возвращён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Корректировки: рассмотрение и массовое утверждение правок задним числом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Экспорт табеля в Excel: по отделу, по сотруднику, массовый ZIP-архив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Портал ФОТ  ·  Возможности для руководящих должностей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72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ВОЗМОЖНОСТИ РУКОВОДИТЕЛЯ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Команда и контроль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Заявления подчинённых: отпуск, больничный, удалёнка, справки, корректировка времени — утверждение или отклонение с комментарием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Служебные записки подчинённых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Дашборд присутствия: онлайн-статус команды, опоздания, ранние уходы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Присутствие по объектам: кто сейчас находится на объекте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Повышение оклада: заявка на повышение для прямого подчинённого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Расчётные листки и история выплат подчинённых (при наличии прав)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Портал ФОТ  ·  Возможности для руководящих должностей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72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ВОЗМОЖНОСТИ ДОЛЖНОСТИ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Начальник отдела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07008"/>
            <a:ext cx="3931920" cy="5074920"/>
          </a:xfrm>
          <a:prstGeom prst="rect">
            <a:avLst/>
          </a:prstGeom>
          <a:solidFill>
            <a:srgbClr val="2C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31920" y="1207008"/>
            <a:ext cx="54864" cy="50749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1089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РОЛЬ В СИСТЕМЕ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«Руководитель»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МЕСТО В ИЕРАРХИИ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FD9E4"/>
                </a:solidFill>
                <a:latin typeface="Calibri"/>
              </a:rPr>
              <a:t>Офисное или функциональное подразделение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554480"/>
            <a:ext cx="73609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833A"/>
                </a:solidFill>
                <a:latin typeface="Calibri"/>
              </a:rPr>
              <a:t>КОГО ВИДИТ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Сотрудников своих отделов и всех вложенных подразделений</a:t>
            </a:r>
          </a:p>
          <a:p>
            <a:pPr algn="l">
              <a:spcBef>
                <a:spcPts val="1500"/>
              </a:spcBef>
              <a:spcAft>
                <a:spcPts val="400"/>
              </a:spcAft>
            </a:pPr>
            <a:r>
              <a:rPr sz="1300" b="1" i="0">
                <a:solidFill>
                  <a:srgbClr val="E8833A"/>
                </a:solidFill>
                <a:latin typeface="Calibri"/>
              </a:rPr>
              <a:t>ТИПОВЫЕ ЗАДАЧИ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Ведёт табель отдела и подаёт его на согласование; рассматривает заявления на отпуск и отсутствие; следит за присутствием через дашборд</a:t>
            </a:r>
          </a:p>
          <a:p>
            <a:pPr algn="l">
              <a:spcBef>
                <a:spcPts val="1500"/>
              </a:spcBef>
              <a:spcAft>
                <a:spcPts val="400"/>
              </a:spcAft>
            </a:pPr>
            <a:r>
              <a:rPr sz="1300" b="1" i="0">
                <a:solidFill>
                  <a:srgbClr val="E8833A"/>
                </a:solidFill>
                <a:latin typeface="Calibri"/>
              </a:rPr>
              <a:t>ЭСКАЛАЦИЯ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Утверждённый табель уходит выше — кадрам или руководителю строительства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Портал ФОТ  ·  Возможности для руководящих должностей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72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ВОЗМОЖНОСТИ ДОЛЖНОСТИ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Бригадир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07008"/>
            <a:ext cx="3931920" cy="5074920"/>
          </a:xfrm>
          <a:prstGeom prst="rect">
            <a:avLst/>
          </a:prstGeom>
          <a:solidFill>
            <a:srgbClr val="2C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31920" y="1207008"/>
            <a:ext cx="54864" cy="50749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1089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РОЛЬ В СИСТЕМЕ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«Руководитель»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МЕСТО В ИЕРАРХИИ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FD9E4"/>
                </a:solidFill>
                <a:latin typeface="Calibri"/>
              </a:rPr>
              <a:t>Бригада на объекте, низовое звено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554480"/>
            <a:ext cx="73609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833A"/>
                </a:solidFill>
                <a:latin typeface="Calibri"/>
              </a:rPr>
              <a:t>КОГО ВИДИТ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Свою бригаду — обычно через поимённое закрепление (прямые подчинённые)</a:t>
            </a:r>
          </a:p>
          <a:p>
            <a:pPr algn="l">
              <a:spcBef>
                <a:spcPts val="1500"/>
              </a:spcBef>
              <a:spcAft>
                <a:spcPts val="400"/>
              </a:spcAft>
            </a:pPr>
            <a:r>
              <a:rPr sz="1300" b="1" i="0">
                <a:solidFill>
                  <a:srgbClr val="E8833A"/>
                </a:solidFill>
                <a:latin typeface="Calibri"/>
              </a:rPr>
              <a:t>ТИПОВЫЕ ЗАДАЧИ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Ежедневно отмечает выходы и смены рабочих, в том числе ночные; прикладывает к табелю подтверждения работы в выходные дни</a:t>
            </a:r>
          </a:p>
          <a:p>
            <a:pPr algn="l">
              <a:spcBef>
                <a:spcPts val="1500"/>
              </a:spcBef>
              <a:spcAft>
                <a:spcPts val="400"/>
              </a:spcAft>
            </a:pPr>
            <a:r>
              <a:rPr sz="1300" b="1" i="0">
                <a:solidFill>
                  <a:srgbClr val="E8833A"/>
                </a:solidFill>
                <a:latin typeface="Calibri"/>
              </a:rPr>
              <a:t>ЭСКАЛАЦИЯ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Подаёт табель бригады на проверку начальнику участка или прорабу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Портал ФОТ  ·  Возможности для руководящих должностей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72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ВОЗМОЖНОСТИ ДОЛЖНОСТИ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Начальник участка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07008"/>
            <a:ext cx="3931920" cy="5074920"/>
          </a:xfrm>
          <a:prstGeom prst="rect">
            <a:avLst/>
          </a:prstGeom>
          <a:solidFill>
            <a:srgbClr val="2C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31920" y="1207008"/>
            <a:ext cx="54864" cy="50749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1089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РОЛЬ В СИСТЕМЕ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«Руководитель» + признак «начальник участка»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МЕСТО В ИЕРАРХИИ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FD9E4"/>
                </a:solidFill>
                <a:latin typeface="Calibri"/>
              </a:rPr>
              <a:t>Строительный участок, объединяет несколько бригад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554480"/>
            <a:ext cx="73609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833A"/>
                </a:solidFill>
                <a:latin typeface="Calibri"/>
              </a:rPr>
              <a:t>КОГО ВИДИТ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Прямых подчинённых и/или отделы участка</a:t>
            </a:r>
          </a:p>
          <a:p>
            <a:pPr algn="l">
              <a:spcBef>
                <a:spcPts val="1500"/>
              </a:spcBef>
              <a:spcAft>
                <a:spcPts val="400"/>
              </a:spcAft>
            </a:pPr>
            <a:r>
              <a:rPr sz="1300" b="1" i="0">
                <a:solidFill>
                  <a:srgbClr val="E8833A"/>
                </a:solidFill>
                <a:latin typeface="Calibri"/>
              </a:rPr>
              <a:t>ТИПОВЫЕ ЗАДАЧИ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Ведёт и проверяет табели участка; контролирует присутствие; использует отдельную выгрузку «начальник участка и его подчинённые»</a:t>
            </a:r>
          </a:p>
          <a:p>
            <a:pPr algn="l">
              <a:spcBef>
                <a:spcPts val="1500"/>
              </a:spcBef>
              <a:spcAft>
                <a:spcPts val="400"/>
              </a:spcAft>
            </a:pPr>
            <a:r>
              <a:rPr sz="1300" b="1" i="0">
                <a:solidFill>
                  <a:srgbClr val="E8833A"/>
                </a:solidFill>
                <a:latin typeface="Calibri"/>
              </a:rPr>
              <a:t>ЭСКАЛАЦИЯ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Передаёт сводный табель участка руководителю строительства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Портал ФОТ  ·  Возможности для руководящих должностей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72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ВОЗМОЖНОСТИ ДОЛЖНОСТИ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Прораб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07008"/>
            <a:ext cx="3931920" cy="5074920"/>
          </a:xfrm>
          <a:prstGeom prst="rect">
            <a:avLst/>
          </a:prstGeom>
          <a:solidFill>
            <a:srgbClr val="2C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31920" y="1207008"/>
            <a:ext cx="54864" cy="50749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1089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РОЛЬ В СИСТЕМЕ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«Руководитель»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МЕСТО В ИЕРАРХИИ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FD9E4"/>
                </a:solidFill>
                <a:latin typeface="Calibri"/>
              </a:rPr>
              <a:t>Производитель работ, руководит бригадами на участке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554480"/>
            <a:ext cx="73609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833A"/>
                </a:solidFill>
                <a:latin typeface="Calibri"/>
              </a:rPr>
              <a:t>КОГО ВИДИТ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Свою бригаду или участок (отделы и/или прямые подчинённые)</a:t>
            </a:r>
          </a:p>
          <a:p>
            <a:pPr algn="l">
              <a:spcBef>
                <a:spcPts val="1500"/>
              </a:spcBef>
              <a:spcAft>
                <a:spcPts val="400"/>
              </a:spcAft>
            </a:pPr>
            <a:r>
              <a:rPr sz="1300" b="1" i="0">
                <a:solidFill>
                  <a:srgbClr val="E8833A"/>
                </a:solidFill>
                <a:latin typeface="Calibri"/>
              </a:rPr>
              <a:t>ТИПОВЫЕ ЗАДАЧИ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Ведёт табель; контролирует фактическое присутствие рабочих через дашборд и экран СКУД; рассматривает заявления</a:t>
            </a:r>
          </a:p>
          <a:p>
            <a:pPr algn="l">
              <a:spcBef>
                <a:spcPts val="1500"/>
              </a:spcBef>
              <a:spcAft>
                <a:spcPts val="400"/>
              </a:spcAft>
            </a:pPr>
            <a:r>
              <a:rPr sz="1300" b="1" i="0">
                <a:solidFill>
                  <a:srgbClr val="E8833A"/>
                </a:solidFill>
                <a:latin typeface="Calibri"/>
              </a:rPr>
              <a:t>ЭСКАЛАЦИЯ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Подаёт табель на согласование вышестоящему руководителю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Портал ФОТ  ·  Возможности для руководящих должностей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72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ВОЗМОЖНОСТИ ДОЛЖНОСТИ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Руководитель строительства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07008"/>
            <a:ext cx="3931920" cy="5074920"/>
          </a:xfrm>
          <a:prstGeom prst="rect">
            <a:avLst/>
          </a:prstGeom>
          <a:solidFill>
            <a:srgbClr val="2C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31920" y="1207008"/>
            <a:ext cx="54864" cy="50749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1089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РОЛЬ В СИСТЕМЕ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«Руководитель (строительство)» — отдельная роль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МЕСТО В ИЕРАРХИИ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FD9E4"/>
                </a:solidFill>
                <a:latin typeface="Calibri"/>
              </a:rPr>
              <a:t>Верхний уровень управления строительным объектом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554480"/>
            <a:ext cx="73609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833A"/>
                </a:solidFill>
                <a:latin typeface="Calibri"/>
              </a:rPr>
              <a:t>КОГО ВИДИТ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Сотрудников своего объекта и подразделений</a:t>
            </a:r>
          </a:p>
          <a:p>
            <a:pPr algn="l">
              <a:spcBef>
                <a:spcPts val="1500"/>
              </a:spcBef>
              <a:spcAft>
                <a:spcPts val="400"/>
              </a:spcAft>
            </a:pPr>
            <a:r>
              <a:rPr sz="1300" b="1" i="0">
                <a:solidFill>
                  <a:srgbClr val="E8833A"/>
                </a:solidFill>
                <a:latin typeface="Calibri"/>
              </a:rPr>
              <a:t>ОСОБЕННОСТИ РОЛИ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Упрощённый интерфейс — скрыто боковое меню; нельзя менять отдел, должность и график сотрудника</a:t>
            </a:r>
          </a:p>
          <a:p>
            <a:pPr algn="l">
              <a:spcBef>
                <a:spcPts val="1500"/>
              </a:spcBef>
              <a:spcAft>
                <a:spcPts val="400"/>
              </a:spcAft>
            </a:pPr>
            <a:r>
              <a:rPr sz="1300" b="1" i="0">
                <a:solidFill>
                  <a:srgbClr val="E8833A"/>
                </a:solidFill>
                <a:latin typeface="Calibri"/>
              </a:rPr>
              <a:t>РАБОТА В ВЫХОДНЫЕ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При работе в выходной или праздничный день подача табеля требует служебной записки — портал формирует Excel-шаблон</a:t>
            </a:r>
          </a:p>
          <a:p>
            <a:pPr algn="l">
              <a:spcBef>
                <a:spcPts val="1500"/>
              </a:spcBef>
              <a:spcAft>
                <a:spcPts val="400"/>
              </a:spcAft>
            </a:pPr>
            <a:r>
              <a:rPr sz="1300" b="1" i="0">
                <a:solidFill>
                  <a:srgbClr val="E8833A"/>
                </a:solidFill>
                <a:latin typeface="Calibri"/>
              </a:rPr>
              <a:t>ТИПОВЫЕ ЗАДАЧИ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Ведёт и подаёт табели объекта, контролирует присутствие, формирует служебные записки по работе в выходные</a:t>
            </a:r>
          </a:p>
          <a:p>
            <a:pPr algn="l">
              <a:spcBef>
                <a:spcPts val="1500"/>
              </a:spcBef>
              <a:spcAft>
                <a:spcPts val="400"/>
              </a:spcAft>
            </a:pPr>
            <a:r>
              <a:rPr sz="1300" b="1" i="0">
                <a:solidFill>
                  <a:srgbClr val="E8833A"/>
                </a:solidFill>
                <a:latin typeface="Calibri"/>
              </a:rPr>
              <a:t>ЭСКАЛАЦИЯ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Утверждённые табели передаются кадрам и в расчёт ФОТ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Портал ФОТ  ·  Возможности для руководящих должностей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72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СРАВНЕНИЕ РОЛЕЙ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Чем отличается роль руководителя строительства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554480"/>
          <a:ext cx="10817352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2862072"/>
                <a:gridCol w="457200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Аспект</a:t>
                      </a:r>
                    </a:p>
                  </a:txBody>
                  <a:tcPr marL="118872" marR="118872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«Руководитель»</a:t>
                      </a:r>
                    </a:p>
                  </a:txBody>
                  <a:tcPr marL="118872" marR="118872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«Руководитель (строительство)»</a:t>
                      </a:r>
                    </a:p>
                  </a:txBody>
                  <a:tcPr marL="118872" marR="118872" marT="45720" marB="45720" anchor="ctr"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F3A5F"/>
                          </a:solidFill>
                          <a:latin typeface="Calibri"/>
                        </a:rPr>
                        <a:t>Боковое меню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2B2B"/>
                          </a:solidFill>
                          <a:latin typeface="Calibri"/>
                        </a:rPr>
                        <a:t>Видно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2B2B"/>
                          </a:solidFill>
                          <a:latin typeface="Calibri"/>
                        </a:rPr>
                        <a:t>Скрыто — интерфейс сфокусирован на табеле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F3A5F"/>
                          </a:solidFill>
                          <a:latin typeface="Calibri"/>
                        </a:rPr>
                        <a:t>Работа в выходные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2B2B"/>
                          </a:solidFill>
                          <a:latin typeface="Calibri"/>
                        </a:rPr>
                        <a:t>Без ограничений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2B2B"/>
                          </a:solidFill>
                          <a:latin typeface="Calibri"/>
                        </a:rPr>
                        <a:t>Нужна служебная записка; Excel-шаблон формирует портал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F3A5F"/>
                          </a:solidFill>
                          <a:latin typeface="Calibri"/>
                        </a:rPr>
                        <a:t>Карточка сотрудника со СКУД-проходами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2B2B"/>
                          </a:solidFill>
                          <a:latin typeface="Calibri"/>
                        </a:rPr>
                        <a:t>Доступна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2B2B"/>
                          </a:solidFill>
                          <a:latin typeface="Calibri"/>
                        </a:rPr>
                        <a:t>Недоступна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F3A5F"/>
                          </a:solidFill>
                          <a:latin typeface="Calibri"/>
                        </a:rPr>
                        <a:t>Таб «События СКУД» в дне табеля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2B2B"/>
                          </a:solidFill>
                          <a:latin typeface="Calibri"/>
                        </a:rPr>
                        <a:t>Доступен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2B2B"/>
                          </a:solidFill>
                          <a:latin typeface="Calibri"/>
                        </a:rPr>
                        <a:t>Скрыт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F3A5F"/>
                          </a:solidFill>
                          <a:latin typeface="Calibri"/>
                        </a:rPr>
                        <a:t>Смена отдела / должности / графика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2B2B"/>
                          </a:solidFill>
                          <a:latin typeface="Calibri"/>
                        </a:rPr>
                        <a:t>Разрешена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2B2B"/>
                          </a:solidFill>
                          <a:latin typeface="Calibri"/>
                        </a:rPr>
                        <a:t>Только просмотр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F3A5F"/>
                          </a:solidFill>
                          <a:latin typeface="Calibri"/>
                        </a:rPr>
                        <a:t>Табель и согласование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2B2B"/>
                          </a:solidFill>
                          <a:latin typeface="Calibri"/>
                        </a:rPr>
                        <a:t>Есть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B2B2B"/>
                          </a:solidFill>
                          <a:latin typeface="Calibri"/>
                        </a:rPr>
                        <a:t>Есть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Портал ФОТ  ·  Возможности для руководящих должностей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72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ЧТО МОЖНО ПРИКРЕПЛЯТЬ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Документы и вложения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554480"/>
          <a:ext cx="10817352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937760"/>
                <a:gridCol w="2862072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Куда</a:t>
                      </a:r>
                    </a:p>
                  </a:txBody>
                  <a:tcPr marL="118872" marR="118872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Что прикладывают</a:t>
                      </a:r>
                    </a:p>
                  </a:txBody>
                  <a:tcPr marL="118872" marR="118872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Ограничения</a:t>
                      </a:r>
                    </a:p>
                  </a:txBody>
                  <a:tcPr marL="118872" marR="118872" marT="45720" marB="45720" anchor="ctr">
                    <a:solidFill>
                      <a:srgbClr val="1F3A5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Calibri"/>
                        </a:rPr>
                        <a:t>К заявлению на отпуск/отсутствие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Справки, сканы, подтверждающие документы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До 10 МБ, любой формат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Calibri"/>
                        </a:rPr>
                        <a:t>К табелю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Подтверждение работы в выходные, подтверждение корректировки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До 10 МБ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Calibri"/>
                        </a:rPr>
                        <a:t>Документы сотрудника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Справки, сканы, согласования, расчётные листки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До 10 МБ, облачное хранилище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Calibri"/>
                        </a:rPr>
                        <a:t>Чеки по патентам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Фото или скан чека с ИИ-распознаванием реквизитов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До 20 МБ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A5F"/>
                          </a:solidFill>
                          <a:latin typeface="Calibri"/>
                        </a:rPr>
                        <a:t>Импорт Excel (кадры, СКУД)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Кадровые данные и события СКУД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Только администратор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532120"/>
            <a:ext cx="10817352" cy="658368"/>
          </a:xfrm>
          <a:prstGeom prst="rect">
            <a:avLst/>
          </a:prstGeom>
          <a:solidFill>
            <a:srgbClr val="F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532120"/>
            <a:ext cx="82296" cy="65836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5532120"/>
            <a:ext cx="1026871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Пока недоступно: вложения к служебным запискам, файлы в чате, фото сотрудников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Портал ФОТ  ·  Возможности для руководящих должностей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72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ИТОГ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Должности: сводная таблица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554480"/>
          <a:ext cx="10817352" cy="398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651760"/>
                <a:gridCol w="3410712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Должность</a:t>
                      </a:r>
                    </a:p>
                  </a:txBody>
                  <a:tcPr marL="118872" marR="118872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Роль в системе</a:t>
                      </a:r>
                    </a:p>
                  </a:txBody>
                  <a:tcPr marL="118872" marR="118872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Зона видимости</a:t>
                      </a:r>
                    </a:p>
                  </a:txBody>
                  <a:tcPr marL="118872" marR="118872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Ключевые возможности</a:t>
                      </a:r>
                    </a:p>
                  </a:txBody>
                  <a:tcPr marL="118872" marR="118872" marT="45720" marB="45720" anchor="ctr">
                    <a:solidFill>
                      <a:srgbClr val="1F3A5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A5F"/>
                          </a:solidFill>
                          <a:latin typeface="Calibri"/>
                        </a:rPr>
                        <a:t>Начальник отдела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2B2B"/>
                          </a:solidFill>
                          <a:latin typeface="Calibri"/>
                        </a:rPr>
                        <a:t>Руководитель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2B2B"/>
                          </a:solidFill>
                          <a:latin typeface="Calibri"/>
                        </a:rPr>
                        <a:t>Отделы подразделения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2B2B"/>
                          </a:solidFill>
                          <a:latin typeface="Calibri"/>
                        </a:rPr>
                        <a:t>Табель отдела, согласование заявлений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A5F"/>
                          </a:solidFill>
                          <a:latin typeface="Calibri"/>
                        </a:rPr>
                        <a:t>Бригадир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2B2B"/>
                          </a:solidFill>
                          <a:latin typeface="Calibri"/>
                        </a:rPr>
                        <a:t>Руководитель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2B2B"/>
                          </a:solidFill>
                          <a:latin typeface="Calibri"/>
                        </a:rPr>
                        <a:t>Бригада (прямые подчинённые)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2B2B"/>
                          </a:solidFill>
                          <a:latin typeface="Calibri"/>
                        </a:rPr>
                        <a:t>Ежедневные отметки, подтверждения выходных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A5F"/>
                          </a:solidFill>
                          <a:latin typeface="Calibri"/>
                        </a:rPr>
                        <a:t>Начальник участка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2B2B"/>
                          </a:solidFill>
                          <a:latin typeface="Calibri"/>
                        </a:rPr>
                        <a:t>Руководитель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2B2B"/>
                          </a:solidFill>
                          <a:latin typeface="Calibri"/>
                        </a:rPr>
                        <a:t>Участок + признак «начальник участка»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2B2B"/>
                          </a:solidFill>
                          <a:latin typeface="Calibri"/>
                        </a:rPr>
                        <a:t>Табель участка, отдельная выгрузка по подчинённым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A5F"/>
                          </a:solidFill>
                          <a:latin typeface="Calibri"/>
                        </a:rPr>
                        <a:t>Прораб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2B2B"/>
                          </a:solidFill>
                          <a:latin typeface="Calibri"/>
                        </a:rPr>
                        <a:t>Руководитель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2B2B"/>
                          </a:solidFill>
                          <a:latin typeface="Calibri"/>
                        </a:rPr>
                        <a:t>Бригада / участок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2B2B"/>
                          </a:solidFill>
                          <a:latin typeface="Calibri"/>
                        </a:rPr>
                        <a:t>Табель, контроль присутствия через СКУД</a:t>
                      </a:r>
                    </a:p>
                  </a:txBody>
                  <a:tcPr marL="118872" marR="118872" marT="45720" marB="45720" anchor="ctr">
                    <a:solidFill>
                      <a:srgbClr val="ECF0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A5F"/>
                          </a:solidFill>
                          <a:latin typeface="Calibri"/>
                        </a:rPr>
                        <a:t>Руководитель строительства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2B2B"/>
                          </a:solidFill>
                          <a:latin typeface="Calibri"/>
                        </a:rPr>
                        <a:t>Руководитель (строительство)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2B2B"/>
                          </a:solidFill>
                          <a:latin typeface="Calibri"/>
                        </a:rPr>
                        <a:t>Строительный объект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2B2B2B"/>
                          </a:solidFill>
                          <a:latin typeface="Calibri"/>
                        </a:rPr>
                        <a:t>Табель объекта, служебные записки, упрощённый интерфейс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Портал ФОТ  ·  Возможности для руководящих должностей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6400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0"/>
            <a:ext cx="10972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8833A"/>
                </a:solidFill>
                <a:latin typeface="Calibri"/>
              </a:rPr>
              <a:t>ВЫВОДЫ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Главное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Начальник отдела, бригадир, начальник участка и прораб — единая роль «Руководитель»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Различие между этими должностями — только в зоне видимости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Руководитель строительства — отдельная роль с упрощённым интерфейсом и служебными записками по работе в выходные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Каждый руководитель видит и ведёт только свою команду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E8833A"/>
                </a:solidFill>
                <a:latin typeface="Calibri"/>
              </a:rPr>
              <a:t>▪  </a:t>
            </a:r>
            <a:r>
              <a:rPr sz="1800" b="0">
                <a:solidFill>
                  <a:srgbClr val="2B2B2B"/>
                </a:solidFill>
                <a:latin typeface="Calibri"/>
              </a:rPr>
              <a:t>Полный цикл: ведение табеля → согласование → расчёт ФОТ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440680"/>
            <a:ext cx="10817352" cy="731520"/>
          </a:xfrm>
          <a:prstGeom prst="rect">
            <a:avLst/>
          </a:prstGeom>
          <a:solidFill>
            <a:srgbClr val="F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440680"/>
            <a:ext cx="82296" cy="73152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5440680"/>
            <a:ext cx="1026871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Подробное текстовое описание — в документе docs/roles-overview.md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Портал ФОТ  ·  Возможности для руководящих должностей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778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